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the course with the core idea: machine learning discovers rules from experience instead of being explicitly programmed.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that the module is not just definitions: students will see ideas through intuition, math and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core conceptual slide. Slow down and make sure the difference is clear.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B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960120"/>
            <a:ext cx="65836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Introduction to</a:t>
            </a:r>
            <a:endParaRPr lang="en-US" sz="4500" dirty="0"/>
          </a:p>
          <a:p>
            <a:pPr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Machine Learning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658368" y="27889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7D5E1"/>
                </a:solidFill>
              </a:rPr>
              <a:t>DCS 404 · Data Science and Machine Learning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406640" y="658368"/>
            <a:ext cx="4023360" cy="4023360"/>
          </a:xfrm>
          <a:prstGeom prst="arc">
            <a:avLst/>
          </a:prstGeom>
          <a:noFill/>
          <a:ln w="63500">
            <a:solidFill>
              <a:srgbClr val="D66700">
                <a:alpha val="9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0" y="1371600"/>
            <a:ext cx="2377440" cy="2377440"/>
          </a:xfrm>
          <a:prstGeom prst="arc">
            <a:avLst/>
          </a:prstGeom>
          <a:noFill/>
          <a:ln w="27940">
            <a:solidFill>
              <a:srgbClr val="FFFFFF">
                <a:alpha val="7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93608" y="187452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AI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7726680" y="4956048"/>
            <a:ext cx="3383280" cy="0"/>
          </a:xfrm>
          <a:prstGeom prst="line">
            <a:avLst/>
          </a:prstGeom>
          <a:noFill/>
          <a:ln w="25400">
            <a:solidFill>
              <a:srgbClr val="D667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26680" y="510235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FFFFFF"/>
                </a:solidFill>
              </a:rPr>
              <a:t>learned, not written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1384280" y="64008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66700"/>
                </a:solidFill>
              </a:rPr>
              <a:t>01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Today’s destination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59536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788"/>
                </a:solidFill>
              </a:rPr>
              <a:t>Four questions students should be able to answer in their own words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31520" y="1600200"/>
            <a:ext cx="4846320" cy="960120"/>
          </a:xfrm>
          <a:prstGeom prst="rect">
            <a:avLst/>
          </a:prstGeom>
          <a:solidFill>
            <a:srgbClr val="FFF8F2"/>
          </a:solidFill>
          <a:ln w="12700">
            <a:solidFill>
              <a:srgbClr val="E3EAF1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6202A"/>
                </a:solidFill>
              </a:rPr>
              <a:t>1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6202A"/>
                </a:solidFill>
              </a:rPr>
              <a:t>What do we mean when we say a machine is intelligent?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217920" y="1600200"/>
            <a:ext cx="4846320" cy="960120"/>
          </a:xfrm>
          <a:prstGeom prst="rect">
            <a:avLst/>
          </a:prstGeom>
          <a:solidFill>
            <a:srgbClr val="F7FAFD"/>
          </a:solidFill>
          <a:ln w="12700">
            <a:solidFill>
              <a:srgbClr val="E3EAF1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6202A"/>
                </a:solidFill>
              </a:rPr>
              <a:t>2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6202A"/>
                </a:solidFill>
              </a:rPr>
              <a:t>Why is ML a different way of programming — not a buzzword?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3017520"/>
            <a:ext cx="4846320" cy="960120"/>
          </a:xfrm>
          <a:prstGeom prst="rect">
            <a:avLst/>
          </a:prstGeom>
          <a:solidFill>
            <a:srgbClr val="FFF8F2"/>
          </a:solidFill>
          <a:ln w="12700">
            <a:solidFill>
              <a:srgbClr val="E3EAF1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6202A"/>
                </a:solidFill>
              </a:rPr>
              <a:t>3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6202A"/>
                </a:solidFill>
              </a:rPr>
              <a:t>What pieces exist in every ML system?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217920" y="3017520"/>
            <a:ext cx="4846320" cy="960120"/>
          </a:xfrm>
          <a:prstGeom prst="rect">
            <a:avLst/>
          </a:prstGeom>
          <a:solidFill>
            <a:srgbClr val="F7FAFD"/>
          </a:solidFill>
          <a:ln w="12700">
            <a:solidFill>
              <a:srgbClr val="E3EAF1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6202A"/>
                </a:solidFill>
              </a:rPr>
              <a:t>4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6202A"/>
                </a:solidFill>
              </a:rPr>
              <a:t>What do supervised, unsupervised, and reinforcement learning mean?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337560" y="5074920"/>
            <a:ext cx="5669280" cy="301752"/>
          </a:xfrm>
          <a:prstGeom prst="rect">
            <a:avLst/>
          </a:prstGeom>
          <a:solidFill>
            <a:srgbClr val="FFF3E8"/>
          </a:solidFill>
          <a:ln>
            <a:solidFill>
              <a:srgbClr val="FFF3E8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66700"/>
                </a:solidFill>
              </a:rPr>
              <a:t>Build intuition → small maths → code you can see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02920" y="6473952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DCS 404 · Data Science and Machine Learning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11475720" y="643737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667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Learning objectives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59536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788"/>
                </a:solidFill>
              </a:rPr>
              <a:t>By the end of this module, students should be able to…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822960" y="1481328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D66700"/>
                </a:solidFill>
              </a:rPr>
              <a:t>•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1078992" y="1463040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6202A"/>
                </a:solidFill>
              </a:rPr>
              <a:t>Relate human intelligence to artificial intelligence and explain why AI matters.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822960" y="2048256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D66700"/>
                </a:solidFill>
              </a:rPr>
              <a:t>•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078992" y="2029968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6202A"/>
                </a:solidFill>
              </a:rPr>
              <a:t>Distinguish artificial intelligence, machine learning, and deep learning.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22960" y="2615184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D66700"/>
                </a:solidFill>
              </a:rPr>
              <a:t>•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078992" y="2596896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6202A"/>
                </a:solidFill>
              </a:rPr>
              <a:t>Contrast traditional programming with machine learning.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822960" y="3182112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D66700"/>
                </a:solidFill>
              </a:rPr>
              <a:t>•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078992" y="3163824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6202A"/>
                </a:solidFill>
              </a:rPr>
              <a:t>Break an ML problem into data, model, learning, and application.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22960" y="3749040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D66700"/>
                </a:solidFill>
              </a:rPr>
              <a:t>•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078992" y="3730752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6202A"/>
                </a:solidFill>
              </a:rPr>
              <a:t>Define supervised, unsupervised, and reinforcement learning with examples.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22960" y="4315968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D66700"/>
                </a:solidFill>
              </a:rPr>
              <a:t>•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078992" y="4297680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6202A"/>
                </a:solidFill>
              </a:rPr>
              <a:t>Recognize when machine learning is useful — and when not to use it.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502920" y="6473952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DCS 404 · Data Science and Machine Learning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11475720" y="643737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667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Intelligence first, AI second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59536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788"/>
                </a:solidFill>
              </a:rPr>
              <a:t>AI is less “movie robot” and more “pattern spotter inside everyday apps.”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822960" y="1645920"/>
            <a:ext cx="36576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AF1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02A"/>
                </a:solidFill>
              </a:rPr>
              <a:t>Intelligence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6202A"/>
                </a:solidFill>
              </a:rPr>
              <a:t>ability to achieve goals by learning and solving problems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0" y="1645920"/>
            <a:ext cx="38404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AF1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02A"/>
                </a:solidFill>
              </a:rPr>
              <a:t>Artificial Intelligence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6202A"/>
                </a:solidFill>
              </a:rPr>
              <a:t>science + engineering of making machines do tasks that require intelligence if humans did them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503920" y="1645920"/>
            <a:ext cx="2834640" cy="1143000"/>
          </a:xfrm>
          <a:prstGeom prst="rect">
            <a:avLst/>
          </a:prstGeom>
          <a:solidFill>
            <a:srgbClr val="FFF3E8"/>
          </a:solidFill>
          <a:ln w="12700">
            <a:solidFill>
              <a:srgbClr val="E3EAF1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66700"/>
                </a:solidFill>
              </a:rPr>
              <a:t>Key line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D66700"/>
                </a:solidFill>
              </a:rPr>
              <a:t>Following fixed rules ≠ learning from experience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37490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6202A"/>
                </a:solidFill>
              </a:rPr>
              <a:t>Calculator thought experiment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960120" y="4224528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6202A"/>
                </a:solidFill>
              </a:rPr>
              <a:t>Fast arithmetic does not automatically mean AI. The calculator follows fixed rules and never improves from experience.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" y="6473952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DCS 404 · Data Science and Machine Learning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11475720" y="643737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667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vs ML vs DL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59536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788"/>
                </a:solidFill>
              </a:rPr>
              <a:t>Three nested ideas — not interchangeable labels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822960" y="1325880"/>
            <a:ext cx="4754880" cy="4754880"/>
          </a:xfrm>
          <a:prstGeom prst="ellipse">
            <a:avLst/>
          </a:prstGeom>
          <a:solidFill>
            <a:srgbClr val="EFF6FF"/>
          </a:solidFill>
          <a:ln w="25400">
            <a:solidFill>
              <a:srgbClr val="1F3750"/>
            </a:solidFill>
          </a:ln>
        </p:spPr>
        <p:txBody>
          <a:bodyPr wrap="square" lIns="2286" tIns="2286" rIns="2286" bIns="2286" rtlCol="0" anchor="t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F3750"/>
                </a:solidFill>
              </a:rPr>
              <a:t>AI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417320" y="1920240"/>
            <a:ext cx="3566160" cy="3566160"/>
          </a:xfrm>
          <a:prstGeom prst="ellipse">
            <a:avLst/>
          </a:prstGeom>
          <a:solidFill>
            <a:srgbClr val="E7F8F8"/>
          </a:solidFill>
          <a:ln w="25400">
            <a:solidFill>
              <a:srgbClr val="00A6A6"/>
            </a:solidFill>
          </a:ln>
        </p:spPr>
        <p:txBody>
          <a:bodyPr wrap="square" lIns="2286" tIns="2286" rIns="2286" bIns="2286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A6A6"/>
                </a:solidFill>
              </a:rPr>
              <a:t>ML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011680" y="2514600"/>
            <a:ext cx="2377440" cy="2377440"/>
          </a:xfrm>
          <a:prstGeom prst="ellipse">
            <a:avLst/>
          </a:prstGeom>
          <a:solidFill>
            <a:srgbClr val="FFF3E8"/>
          </a:solidFill>
          <a:ln w="25400">
            <a:solidFill>
              <a:srgbClr val="D66700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66700"/>
                </a:solidFill>
              </a:rPr>
              <a:t>DL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217920" y="1417320"/>
            <a:ext cx="4937760" cy="868680"/>
          </a:xfrm>
          <a:prstGeom prst="rect">
            <a:avLst/>
          </a:prstGeom>
          <a:solidFill>
            <a:srgbClr val="F7FAFD"/>
          </a:solidFill>
          <a:ln w="12700">
            <a:solidFill>
              <a:srgbClr val="E3EAF1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6202A"/>
                </a:solidFill>
              </a:rPr>
              <a:t>Artificial intelligence</a:t>
            </a:r>
            <a:endParaRPr lang="en-US" sz="1350" dirty="0"/>
          </a:p>
          <a:p>
            <a:pPr algn="l" indent="0" marL="0">
              <a:buNone/>
            </a:pPr>
            <a:r>
              <a:rPr lang="en-US" sz="1350" b="1" dirty="0">
                <a:solidFill>
                  <a:srgbClr val="16202A"/>
                </a:solidFill>
              </a:rPr>
              <a:t>Making machines act intelligently by any method — search, planning, rules, learning.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217920" y="2651760"/>
            <a:ext cx="4937760" cy="868680"/>
          </a:xfrm>
          <a:prstGeom prst="rect">
            <a:avLst/>
          </a:prstGeom>
          <a:solidFill>
            <a:srgbClr val="F1FBFB"/>
          </a:solidFill>
          <a:ln w="12700">
            <a:solidFill>
              <a:srgbClr val="E3EAF1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6202A"/>
                </a:solidFill>
              </a:rPr>
              <a:t>Machine learning</a:t>
            </a:r>
            <a:endParaRPr lang="en-US" sz="1350" dirty="0"/>
          </a:p>
          <a:p>
            <a:pPr algn="l" indent="0" marL="0">
              <a:buNone/>
            </a:pPr>
            <a:r>
              <a:rPr lang="en-US" sz="1350" b="1" dirty="0">
                <a:solidFill>
                  <a:srgbClr val="16202A"/>
                </a:solidFill>
              </a:rPr>
              <a:t>A strategy for AI where data helps the machine discover the rules.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217920" y="3886200"/>
            <a:ext cx="4937760" cy="868680"/>
          </a:xfrm>
          <a:prstGeom prst="rect">
            <a:avLst/>
          </a:prstGeom>
          <a:solidFill>
            <a:srgbClr val="FFF8F2"/>
          </a:solidFill>
          <a:ln w="12700">
            <a:solidFill>
              <a:srgbClr val="E3EAF1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6202A"/>
                </a:solidFill>
              </a:rPr>
              <a:t>Deep learning</a:t>
            </a:r>
            <a:endParaRPr lang="en-US" sz="1350" dirty="0"/>
          </a:p>
          <a:p>
            <a:pPr algn="l" indent="0" marL="0">
              <a:buNone/>
            </a:pPr>
            <a:r>
              <a:rPr lang="en-US" sz="1350" b="1" dirty="0">
                <a:solidFill>
                  <a:srgbClr val="16202A"/>
                </a:solidFill>
              </a:rPr>
              <a:t>A subset of ML using many-layer neural networks, often from raw data like pixels or text.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02920" y="6473952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DCS 404 · Data Science and Machine Learning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1475720" y="643737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667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same feature can sit in different rings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59536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788"/>
                </a:solidFill>
              </a:rPr>
              <a:t>Classification depends on how it works under the hood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822960" y="1417320"/>
            <a:ext cx="23774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AF1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02A"/>
                </a:solidFill>
              </a:rPr>
              <a:t>Chess engine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429000" y="1417320"/>
            <a:ext cx="1828800" cy="566928"/>
          </a:xfrm>
          <a:prstGeom prst="rect">
            <a:avLst/>
          </a:prstGeom>
          <a:solidFill>
            <a:srgbClr val="EFF6FF"/>
          </a:solidFill>
          <a:ln w="12700">
            <a:solidFill>
              <a:srgbClr val="E3EAF1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750"/>
                </a:solidFill>
              </a:rPr>
              <a:t>AI, not ML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0" y="1417320"/>
            <a:ext cx="5394960" cy="566928"/>
          </a:xfrm>
          <a:prstGeom prst="rect">
            <a:avLst/>
          </a:prstGeom>
          <a:solidFill>
            <a:srgbClr val="F7FAFD"/>
          </a:solidFill>
          <a:ln w="12700">
            <a:solidFill>
              <a:srgbClr val="E3EAF1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6202A"/>
                </a:solidFill>
              </a:rPr>
              <a:t>Searches possible moves; does not learn from data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22960" y="2377440"/>
            <a:ext cx="23774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AF1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02A"/>
                </a:solidFill>
              </a:rPr>
              <a:t>Streaming recommendation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429000" y="2377440"/>
            <a:ext cx="1828800" cy="566928"/>
          </a:xfrm>
          <a:prstGeom prst="rect">
            <a:avLst/>
          </a:prstGeom>
          <a:solidFill>
            <a:srgbClr val="E7F8F8"/>
          </a:solidFill>
          <a:ln w="12700">
            <a:solidFill>
              <a:srgbClr val="E3EAF1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A6A6"/>
                </a:solidFill>
              </a:rPr>
              <a:t>ML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0" y="2377440"/>
            <a:ext cx="5394960" cy="566928"/>
          </a:xfrm>
          <a:prstGeom prst="rect">
            <a:avLst/>
          </a:prstGeom>
          <a:solidFill>
            <a:srgbClr val="F7FAFD"/>
          </a:solidFill>
          <a:ln w="12700">
            <a:solidFill>
              <a:srgbClr val="E3EAF1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6202A"/>
                </a:solidFill>
              </a:rPr>
              <a:t>Learns taste from watching history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22960" y="3337560"/>
            <a:ext cx="23774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AF1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02A"/>
                </a:solidFill>
              </a:rPr>
              <a:t>Face unlock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29000" y="3337560"/>
            <a:ext cx="1828800" cy="566928"/>
          </a:xfrm>
          <a:prstGeom prst="rect">
            <a:avLst/>
          </a:prstGeom>
          <a:solidFill>
            <a:srgbClr val="FFF3E8"/>
          </a:solidFill>
          <a:ln w="12700">
            <a:solidFill>
              <a:srgbClr val="E3EAF1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66700"/>
                </a:solidFill>
              </a:rPr>
              <a:t>DL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0" y="3337560"/>
            <a:ext cx="5394960" cy="566928"/>
          </a:xfrm>
          <a:prstGeom prst="rect">
            <a:avLst/>
          </a:prstGeom>
          <a:solidFill>
            <a:srgbClr val="F7FAFD"/>
          </a:solidFill>
          <a:ln w="12700">
            <a:solidFill>
              <a:srgbClr val="E3EAF1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6202A"/>
                </a:solidFill>
              </a:rPr>
              <a:t>Learns faces directly from pixels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22960" y="4297680"/>
            <a:ext cx="23774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AF1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02A"/>
                </a:solidFill>
              </a:rPr>
              <a:t>Scheduled thermostat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29000" y="4297680"/>
            <a:ext cx="1828800" cy="566928"/>
          </a:xfrm>
          <a:prstGeom prst="rect">
            <a:avLst/>
          </a:prstGeom>
          <a:solidFill>
            <a:srgbClr val="F1F3F5"/>
          </a:solidFill>
          <a:ln w="12700">
            <a:solidFill>
              <a:srgbClr val="E3EAF1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67788"/>
                </a:solidFill>
              </a:rPr>
              <a:t>None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0" y="4297680"/>
            <a:ext cx="5394960" cy="566928"/>
          </a:xfrm>
          <a:prstGeom prst="rect">
            <a:avLst/>
          </a:prstGeom>
          <a:solidFill>
            <a:srgbClr val="F7FAFD"/>
          </a:solidFill>
          <a:ln w="12700">
            <a:solidFill>
              <a:srgbClr val="E3EAF1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6202A"/>
                </a:solidFill>
              </a:rPr>
              <a:t>Fixed rules only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914400" y="53949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02A"/>
                </a:solidFill>
              </a:rPr>
              <a:t>Spam filter migration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246120" y="5413248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202A"/>
                </a:solidFill>
              </a:rPr>
              <a:t>From hand-written phrase rules → learning from millions of labeled emails.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02920" y="6473952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DCS 404 · Data Science and Machine Learning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11475720" y="643737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667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32B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Traditional programming vs. Machine Learning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7D5E1"/>
                </a:solidFill>
              </a:rPr>
              <a:t>The arrows reverse.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85800" y="1874520"/>
            <a:ext cx="4617720" cy="1143000"/>
          </a:xfrm>
          <a:prstGeom prst="rect">
            <a:avLst/>
          </a:prstGeom>
          <a:solidFill>
            <a:srgbClr val="1F3750"/>
          </a:solidFill>
          <a:ln w="12700">
            <a:solidFill>
              <a:srgbClr val="43667C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Traditional programming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Rules + Data  →  Answers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812280" y="1874520"/>
            <a:ext cx="4617720" cy="1143000"/>
          </a:xfrm>
          <a:prstGeom prst="rect">
            <a:avLst/>
          </a:prstGeom>
          <a:solidFill>
            <a:srgbClr val="1F3750"/>
          </a:solidFill>
          <a:ln w="12700">
            <a:solidFill>
              <a:srgbClr val="43667C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Machine learning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Data + Answers  →  Rules / Model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650992" y="2194560"/>
            <a:ext cx="566928" cy="475488"/>
          </a:xfrm>
          <a:prstGeom prst="rightArrow">
            <a:avLst/>
          </a:prstGeom>
          <a:solidFill>
            <a:srgbClr val="D66700"/>
          </a:solidFill>
          <a:ln w="12700">
            <a:solidFill>
              <a:srgbClr val="D667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416052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Traditional software: you author the rules.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ML software: data teaches the rules.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926080" y="5010912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7D5E1"/>
                </a:solidFill>
              </a:rPr>
              <a:t>The model is the rule set learned from experience.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475720" y="643737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66700"/>
                </a:solidFill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machine discovers a rule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59536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788"/>
                </a:solidFill>
              </a:rPr>
              <a:t>Temperature conversion demo: learn Fahrenheit from Celsius examples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822960" y="138988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02A"/>
                </a:solidFill>
              </a:rPr>
              <a:t>Given examples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1764792"/>
            <a:ext cx="3200400" cy="960120"/>
          </a:xfrm>
          <a:prstGeom prst="rect">
            <a:avLst/>
          </a:prstGeom>
          <a:solidFill>
            <a:srgbClr val="F7FAFD"/>
          </a:solidFill>
          <a:ln w="12700">
            <a:solidFill>
              <a:srgbClr val="E3EAF1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6202A"/>
                </a:solidFill>
              </a:rPr>
              <a:t>(Celsius, Fahrenheit)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6202A"/>
                </a:solidFill>
              </a:rPr>
              <a:t>(0, 32), (10, 50), (20, 68)…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389120" y="2020824"/>
            <a:ext cx="731520" cy="365760"/>
          </a:xfrm>
          <a:prstGeom prst="rightArrow">
            <a:avLst/>
          </a:prstGeom>
          <a:solidFill>
            <a:srgbClr val="D66700"/>
          </a:solidFill>
          <a:ln w="12700">
            <a:solidFill>
              <a:srgbClr val="D667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0" y="1764792"/>
            <a:ext cx="2926080" cy="960120"/>
          </a:xfrm>
          <a:prstGeom prst="rect">
            <a:avLst/>
          </a:prstGeom>
          <a:solidFill>
            <a:srgbClr val="FFF3E8"/>
          </a:solidFill>
          <a:ln w="12700">
            <a:solidFill>
              <a:srgbClr val="E3EAF1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66700"/>
                </a:solidFill>
              </a:rPr>
              <a:t>Learned model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D66700"/>
                </a:solidFill>
              </a:rPr>
              <a:t>F = 1.800 × C + 32.000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503920" y="2020824"/>
            <a:ext cx="731520" cy="365760"/>
          </a:xfrm>
          <a:prstGeom prst="rightArrow">
            <a:avLst/>
          </a:prstGeom>
          <a:solidFill>
            <a:srgbClr val="D66700"/>
          </a:solidFill>
          <a:ln w="12700">
            <a:solidFill>
              <a:srgbClr val="D667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464040" y="1764792"/>
            <a:ext cx="2011680" cy="960120"/>
          </a:xfrm>
          <a:prstGeom prst="rect">
            <a:avLst/>
          </a:prstGeom>
          <a:solidFill>
            <a:srgbClr val="F7FAFD"/>
          </a:solidFill>
          <a:ln w="12700">
            <a:solidFill>
              <a:srgbClr val="E3EAF1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202A"/>
                </a:solidFill>
              </a:rPr>
              <a:t>Prediction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6202A"/>
                </a:solidFill>
              </a:rPr>
              <a:t>37°C → 98.6°F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143000" y="5257800"/>
            <a:ext cx="4389120" cy="0"/>
          </a:xfrm>
          <a:prstGeom prst="line">
            <a:avLst/>
          </a:prstGeom>
          <a:noFill/>
          <a:ln w="15240">
            <a:solidFill>
              <a:srgbClr val="16202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43000" y="5257800"/>
            <a:ext cx="0" cy="-1828800"/>
          </a:xfrm>
          <a:prstGeom prst="line">
            <a:avLst/>
          </a:prstGeom>
          <a:noFill/>
          <a:ln w="15240">
            <a:solidFill>
              <a:srgbClr val="16202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34440" y="5074920"/>
            <a:ext cx="3886200" cy="-1463040"/>
          </a:xfrm>
          <a:prstGeom prst="line">
            <a:avLst/>
          </a:prstGeom>
          <a:noFill/>
          <a:ln w="30480">
            <a:solidFill>
              <a:srgbClr val="D667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97864" y="5038344"/>
            <a:ext cx="73152" cy="73152"/>
          </a:xfrm>
          <a:prstGeom prst="ellipse">
            <a:avLst/>
          </a:prstGeom>
          <a:solidFill>
            <a:srgbClr val="1F3750"/>
          </a:solidFill>
          <a:ln w="12700">
            <a:solidFill>
              <a:srgbClr val="1F375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75104" y="4745736"/>
            <a:ext cx="73152" cy="73152"/>
          </a:xfrm>
          <a:prstGeom prst="ellipse">
            <a:avLst/>
          </a:prstGeom>
          <a:solidFill>
            <a:srgbClr val="1F3750"/>
          </a:solidFill>
          <a:ln w="12700">
            <a:solidFill>
              <a:srgbClr val="1F375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52344" y="4453128"/>
            <a:ext cx="73152" cy="73152"/>
          </a:xfrm>
          <a:prstGeom prst="ellipse">
            <a:avLst/>
          </a:prstGeom>
          <a:solidFill>
            <a:srgbClr val="1F3750"/>
          </a:solidFill>
          <a:ln w="12700">
            <a:solidFill>
              <a:srgbClr val="1F375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529584" y="4160520"/>
            <a:ext cx="73152" cy="73152"/>
          </a:xfrm>
          <a:prstGeom prst="ellipse">
            <a:avLst/>
          </a:prstGeom>
          <a:solidFill>
            <a:srgbClr val="1F3750"/>
          </a:solidFill>
          <a:ln w="12700">
            <a:solidFill>
              <a:srgbClr val="1F375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06824" y="3867912"/>
            <a:ext cx="73152" cy="73152"/>
          </a:xfrm>
          <a:prstGeom prst="ellipse">
            <a:avLst/>
          </a:prstGeom>
          <a:solidFill>
            <a:srgbClr val="1F3750"/>
          </a:solidFill>
          <a:ln w="12700">
            <a:solidFill>
              <a:srgbClr val="1F375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84064" y="3575304"/>
            <a:ext cx="73152" cy="73152"/>
          </a:xfrm>
          <a:prstGeom prst="ellipse">
            <a:avLst/>
          </a:prstGeom>
          <a:solidFill>
            <a:srgbClr val="1F3750"/>
          </a:solidFill>
          <a:ln w="12700">
            <a:solidFill>
              <a:srgbClr val="1F375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26480" y="379476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202A"/>
                </a:solidFill>
              </a:rPr>
              <a:t>Rule learned from dots — not hard-coded.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144768" y="43434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7788"/>
                </a:solidFill>
              </a:rPr>
              <a:t>But one bad example can pull the rule in the wrong direction.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02920" y="6473952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DCS 404 · Data Science and Machine Learning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1475720" y="643737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667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Tom Mitchell’s definition of learning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59536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788"/>
                </a:solidFill>
              </a:rPr>
              <a:t>The textbook definition makes sense after seeing the demo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960120" y="1417320"/>
            <a:ext cx="1014984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F3750"/>
                </a:solidFill>
              </a:rPr>
              <a:t>“A program learns from experience E, with respect to tasks T and performance measure P, if performance at T improves with E.”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60120" y="2743200"/>
            <a:ext cx="1920240" cy="1005840"/>
          </a:xfrm>
          <a:prstGeom prst="rect">
            <a:avLst/>
          </a:prstGeom>
          <a:solidFill>
            <a:srgbClr val="FFF3E8"/>
          </a:solidFill>
          <a:ln w="12700">
            <a:solidFill>
              <a:srgbClr val="E3EAF1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66700"/>
                </a:solidFill>
              </a:rPr>
              <a:t>E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D66700"/>
                </a:solidFill>
              </a:rPr>
              <a:t>Experience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60120" y="3886200"/>
            <a:ext cx="26517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AF1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16202A"/>
                </a:solidFill>
              </a:rPr>
              <a:t>past examples / data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6202A"/>
                </a:solidFill>
              </a:rPr>
              <a:t>eight (C, F) pairs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709160" y="2743200"/>
            <a:ext cx="1920240" cy="1005840"/>
          </a:xfrm>
          <a:prstGeom prst="rect">
            <a:avLst/>
          </a:prstGeom>
          <a:solidFill>
            <a:srgbClr val="E7F8F8"/>
          </a:solidFill>
          <a:ln w="12700">
            <a:solidFill>
              <a:srgbClr val="E3EAF1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A6A6"/>
                </a:solidFill>
              </a:rPr>
              <a:t>T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00A6A6"/>
                </a:solidFill>
              </a:rPr>
              <a:t>Task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709160" y="3886200"/>
            <a:ext cx="26517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AF1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16202A"/>
                </a:solidFill>
              </a:rPr>
              <a:t>what we want done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6202A"/>
                </a:solidFill>
              </a:rPr>
              <a:t>predict Fahrenheit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458200" y="2743200"/>
            <a:ext cx="1920240" cy="1005840"/>
          </a:xfrm>
          <a:prstGeom prst="rect">
            <a:avLst/>
          </a:prstGeom>
          <a:solidFill>
            <a:srgbClr val="EFF6FF"/>
          </a:solidFill>
          <a:ln w="12700">
            <a:solidFill>
              <a:srgbClr val="E3EAF1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3750"/>
                </a:solidFill>
              </a:rPr>
              <a:t>P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1F3750"/>
                </a:solidFill>
              </a:rPr>
              <a:t>Performance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458200" y="3886200"/>
            <a:ext cx="26517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AF1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16202A"/>
                </a:solidFill>
              </a:rPr>
              <a:t>how we keep score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6202A"/>
                </a:solidFill>
              </a:rPr>
              <a:t>prediction error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" y="6473952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DCS 404 · Data Science and Machine Learning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1475720" y="643737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667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anatomy of every ML system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59536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788"/>
                </a:solidFill>
              </a:rPr>
              <a:t>Every project can be broken into the same four building blocks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85800" y="2148840"/>
            <a:ext cx="2148840" cy="1325880"/>
          </a:xfrm>
          <a:prstGeom prst="rect">
            <a:avLst/>
          </a:prstGeom>
          <a:solidFill>
            <a:srgbClr val="FFF8F2"/>
          </a:solidFill>
          <a:ln w="12700">
            <a:solidFill>
              <a:srgbClr val="E3EAF1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02A"/>
                </a:solidFill>
              </a:rPr>
              <a:t>1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6202A"/>
                </a:solidFill>
              </a:rPr>
              <a:t>Data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6202A"/>
                </a:solidFill>
              </a:rPr>
              <a:t>examples, features, labels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916936" y="2633472"/>
            <a:ext cx="411480" cy="292608"/>
          </a:xfrm>
          <a:prstGeom prst="rightArrow">
            <a:avLst/>
          </a:prstGeom>
          <a:solidFill>
            <a:srgbClr val="D66700"/>
          </a:solidFill>
          <a:ln w="12700">
            <a:solidFill>
              <a:srgbClr val="D667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520440" y="2148840"/>
            <a:ext cx="21488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AF1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02A"/>
                </a:solidFill>
              </a:rPr>
              <a:t>2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6202A"/>
                </a:solidFill>
              </a:rPr>
              <a:t>Model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6202A"/>
                </a:solidFill>
              </a:rPr>
              <a:t>the rule-maker / function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751576" y="2633472"/>
            <a:ext cx="411480" cy="292608"/>
          </a:xfrm>
          <a:prstGeom prst="rightArrow">
            <a:avLst/>
          </a:prstGeom>
          <a:solidFill>
            <a:srgbClr val="D66700"/>
          </a:solidFill>
          <a:ln w="12700">
            <a:solidFill>
              <a:srgbClr val="D667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55080" y="2148840"/>
            <a:ext cx="2148840" cy="1325880"/>
          </a:xfrm>
          <a:prstGeom prst="rect">
            <a:avLst/>
          </a:prstGeom>
          <a:solidFill>
            <a:srgbClr val="FFF8F2"/>
          </a:solidFill>
          <a:ln w="12700">
            <a:solidFill>
              <a:srgbClr val="E3EAF1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02A"/>
                </a:solidFill>
              </a:rPr>
              <a:t>3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6202A"/>
                </a:solidFill>
              </a:rPr>
              <a:t>Learning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6202A"/>
                </a:solidFill>
              </a:rPr>
              <a:t>objective + optimization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586216" y="2633472"/>
            <a:ext cx="411480" cy="292608"/>
          </a:xfrm>
          <a:prstGeom prst="rightArrow">
            <a:avLst/>
          </a:prstGeom>
          <a:solidFill>
            <a:srgbClr val="D66700"/>
          </a:solidFill>
          <a:ln w="12700">
            <a:solidFill>
              <a:srgbClr val="D667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89720" y="2148840"/>
            <a:ext cx="21488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AF1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02A"/>
                </a:solidFill>
              </a:rPr>
              <a:t>4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6202A"/>
                </a:solidFill>
              </a:rPr>
              <a:t>Application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6202A"/>
                </a:solidFill>
              </a:rPr>
              <a:t>prediction, decision, insight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325880" y="4800600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6202A"/>
                </a:solidFill>
              </a:rPr>
              <a:t>When an ML system fails, debug these parts separately.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02920" y="6473952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DCS 404 · Data Science and Machine Learning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1475720" y="643737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667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Three types of machine learning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59536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788"/>
                </a:solidFill>
              </a:rPr>
              <a:t>What kind of feedback does the system receive?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868680" y="1600200"/>
            <a:ext cx="3063240" cy="1234440"/>
          </a:xfrm>
          <a:prstGeom prst="rect">
            <a:avLst/>
          </a:prstGeom>
          <a:solidFill>
            <a:srgbClr val="FFF3E8"/>
          </a:solidFill>
          <a:ln w="12700">
            <a:solidFill>
              <a:srgbClr val="E3EAF1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66700"/>
                </a:solidFill>
              </a:rPr>
              <a:t>Supervised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D66700"/>
                </a:solidFill>
              </a:rPr>
              <a:t>Learns from examples with correct answers.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3154680"/>
            <a:ext cx="2514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AF1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202A"/>
                </a:solidFill>
              </a:rPr>
              <a:t>Input → label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4041648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667788"/>
                </a:solidFill>
              </a:rPr>
              <a:t>email spam, house price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617720" y="1600200"/>
            <a:ext cx="3063240" cy="1234440"/>
          </a:xfrm>
          <a:prstGeom prst="rect">
            <a:avLst/>
          </a:prstGeom>
          <a:solidFill>
            <a:srgbClr val="E7F8F8"/>
          </a:solidFill>
          <a:ln w="12700">
            <a:solidFill>
              <a:srgbClr val="E3EAF1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A6A6"/>
                </a:solidFill>
              </a:rPr>
              <a:t>Unsupervised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0A6A6"/>
                </a:solidFill>
              </a:rPr>
              <a:t>Finds structure without given answers.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892040" y="3154680"/>
            <a:ext cx="2514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AF1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202A"/>
                </a:solidFill>
              </a:rPr>
              <a:t>Input → pattern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617720" y="4041648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667788"/>
                </a:solidFill>
              </a:rPr>
              <a:t>customer segments, clusters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366760" y="1600200"/>
            <a:ext cx="3063240" cy="1234440"/>
          </a:xfrm>
          <a:prstGeom prst="rect">
            <a:avLst/>
          </a:prstGeom>
          <a:solidFill>
            <a:srgbClr val="EFF6FF"/>
          </a:solidFill>
          <a:ln w="12700">
            <a:solidFill>
              <a:srgbClr val="E3EAF1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3750"/>
                </a:solidFill>
              </a:rPr>
              <a:t>Reinforcement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F3750"/>
                </a:solidFill>
              </a:rPr>
              <a:t>Learns by acting and receiving rewards.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641080" y="3154680"/>
            <a:ext cx="2514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AF1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202A"/>
                </a:solidFill>
              </a:rPr>
              <a:t>Action → reward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366760" y="4041648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667788"/>
                </a:solidFill>
              </a:rPr>
              <a:t>game agent, robot control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02920" y="6473952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DCS 404 · Data Science and Machine Learning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1475720" y="643737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667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Supervised learning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59536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788"/>
                </a:solidFill>
              </a:rPr>
              <a:t>We train on examples where the answer is known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914400" y="1874520"/>
            <a:ext cx="2103120" cy="960120"/>
          </a:xfrm>
          <a:prstGeom prst="rect">
            <a:avLst/>
          </a:prstGeom>
          <a:solidFill>
            <a:srgbClr val="FFF3E8"/>
          </a:solidFill>
          <a:ln w="12700">
            <a:solidFill>
              <a:srgbClr val="E3EAF1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66700"/>
                </a:solidFill>
              </a:rPr>
              <a:t>Training data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D66700"/>
                </a:solidFill>
              </a:rPr>
              <a:t>(x, y)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246120" y="2176272"/>
            <a:ext cx="640080" cy="365760"/>
          </a:xfrm>
          <a:prstGeom prst="rightArrow">
            <a:avLst/>
          </a:prstGeom>
          <a:solidFill>
            <a:srgbClr val="D66700"/>
          </a:solidFill>
          <a:ln w="12700">
            <a:solidFill>
              <a:srgbClr val="D667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60520" y="1874520"/>
            <a:ext cx="21031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AF1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202A"/>
                </a:solidFill>
              </a:rPr>
              <a:t>Model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6202A"/>
                </a:solidFill>
              </a:rPr>
              <a:t>f(x)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92240" y="2176272"/>
            <a:ext cx="640080" cy="365760"/>
          </a:xfrm>
          <a:prstGeom prst="rightArrow">
            <a:avLst/>
          </a:prstGeom>
          <a:solidFill>
            <a:srgbClr val="D66700"/>
          </a:solidFill>
          <a:ln w="12700">
            <a:solidFill>
              <a:srgbClr val="D667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0" y="1874520"/>
            <a:ext cx="21031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AF1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202A"/>
                </a:solidFill>
              </a:rPr>
              <a:t>Prediction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6202A"/>
                </a:solidFill>
              </a:rPr>
              <a:t>ŷ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738360" y="2176272"/>
            <a:ext cx="640080" cy="365760"/>
          </a:xfrm>
          <a:prstGeom prst="rightArrow">
            <a:avLst/>
          </a:prstGeom>
          <a:solidFill>
            <a:srgbClr val="D66700"/>
          </a:solidFill>
          <a:ln w="12700">
            <a:solidFill>
              <a:srgbClr val="D667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424160" y="1874520"/>
            <a:ext cx="1417320" cy="960120"/>
          </a:xfrm>
          <a:prstGeom prst="rect">
            <a:avLst/>
          </a:prstGeom>
          <a:solidFill>
            <a:srgbClr val="FFF3E8"/>
          </a:solidFill>
          <a:ln w="12700">
            <a:solidFill>
              <a:srgbClr val="E3EAF1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66700"/>
                </a:solidFill>
              </a:rPr>
              <a:t>Error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D66700"/>
                </a:solidFill>
              </a:rPr>
              <a:t>loss(y, ŷ)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97280" y="3995928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66700"/>
                </a:solidFill>
              </a:rPr>
              <a:t>•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53312" y="397764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6202A"/>
                </a:solidFill>
              </a:rPr>
              <a:t>Regression predicts a number.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97280" y="4498848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66700"/>
                </a:solidFill>
              </a:rPr>
              <a:t>•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53312" y="448056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6202A"/>
                </a:solidFill>
              </a:rPr>
              <a:t>Classification predicts a category.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97280" y="5001768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66700"/>
                </a:solidFill>
              </a:rPr>
              <a:t>•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53312" y="498348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6202A"/>
                </a:solidFill>
              </a:rPr>
              <a:t>Training means finding parameters that minimize error.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02920" y="6473952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DCS 404 · Data Science and Machine Learning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1475720" y="643737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667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Unsupervised learning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59536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788"/>
                </a:solidFill>
              </a:rPr>
              <a:t>No answer key: the model searches for hidden structure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868680" y="1828800"/>
            <a:ext cx="1920240" cy="731520"/>
          </a:xfrm>
          <a:prstGeom prst="rect">
            <a:avLst/>
          </a:prstGeom>
          <a:solidFill>
            <a:srgbClr val="E7F8F8"/>
          </a:solidFill>
          <a:ln w="12700">
            <a:solidFill>
              <a:srgbClr val="E3EAF1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A6A6"/>
                </a:solidFill>
              </a:rPr>
              <a:t>Raw data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063240" y="2011680"/>
            <a:ext cx="640080" cy="365760"/>
          </a:xfrm>
          <a:prstGeom prst="rightArrow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977640" y="1828800"/>
            <a:ext cx="19202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AF1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202A"/>
                </a:solidFill>
              </a:rPr>
              <a:t>Structure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172200" y="2011680"/>
            <a:ext cx="640080" cy="365760"/>
          </a:xfrm>
          <a:prstGeom prst="rightArrow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086600" y="1828800"/>
            <a:ext cx="19202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AF1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202A"/>
                </a:solidFill>
              </a:rPr>
              <a:t>Insight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281160" y="2011680"/>
            <a:ext cx="640080" cy="365760"/>
          </a:xfrm>
          <a:prstGeom prst="rightArrow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104120" y="1828800"/>
            <a:ext cx="1554480" cy="731520"/>
          </a:xfrm>
          <a:prstGeom prst="rect">
            <a:avLst/>
          </a:prstGeom>
          <a:solidFill>
            <a:srgbClr val="E7F8F8"/>
          </a:solidFill>
          <a:ln w="12700">
            <a:solidFill>
              <a:srgbClr val="E3EAF1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A6A6"/>
                </a:solidFill>
              </a:rPr>
              <a:t>Action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499616" y="4151376"/>
            <a:ext cx="109728" cy="109728"/>
          </a:xfrm>
          <a:prstGeom prst="ellipse">
            <a:avLst/>
          </a:prstGeom>
          <a:solidFill>
            <a:srgbClr val="D66700"/>
          </a:solidFill>
          <a:ln w="12700">
            <a:solidFill>
              <a:srgbClr val="D667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64208" y="4233672"/>
            <a:ext cx="109728" cy="109728"/>
          </a:xfrm>
          <a:prstGeom prst="ellipse">
            <a:avLst/>
          </a:prstGeom>
          <a:solidFill>
            <a:srgbClr val="D66700"/>
          </a:solidFill>
          <a:ln w="12700">
            <a:solidFill>
              <a:srgbClr val="D667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828800" y="4151376"/>
            <a:ext cx="109728" cy="109728"/>
          </a:xfrm>
          <a:prstGeom prst="ellipse">
            <a:avLst/>
          </a:prstGeom>
          <a:solidFill>
            <a:srgbClr val="D66700"/>
          </a:solidFill>
          <a:ln w="12700">
            <a:solidFill>
              <a:srgbClr val="D667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93392" y="4233672"/>
            <a:ext cx="109728" cy="109728"/>
          </a:xfrm>
          <a:prstGeom prst="ellipse">
            <a:avLst/>
          </a:prstGeom>
          <a:solidFill>
            <a:srgbClr val="D66700"/>
          </a:solidFill>
          <a:ln w="12700">
            <a:solidFill>
              <a:srgbClr val="D667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157984" y="4151376"/>
            <a:ext cx="109728" cy="109728"/>
          </a:xfrm>
          <a:prstGeom prst="ellipse">
            <a:avLst/>
          </a:prstGeom>
          <a:solidFill>
            <a:srgbClr val="D66700"/>
          </a:solidFill>
          <a:ln w="12700">
            <a:solidFill>
              <a:srgbClr val="D667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499616" y="4453128"/>
            <a:ext cx="109728" cy="109728"/>
          </a:xfrm>
          <a:prstGeom prst="ellipse">
            <a:avLst/>
          </a:prstGeom>
          <a:solidFill>
            <a:srgbClr val="D66700"/>
          </a:solidFill>
          <a:ln w="12700">
            <a:solidFill>
              <a:srgbClr val="D667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664208" y="4370832"/>
            <a:ext cx="109728" cy="109728"/>
          </a:xfrm>
          <a:prstGeom prst="ellipse">
            <a:avLst/>
          </a:prstGeom>
          <a:solidFill>
            <a:srgbClr val="D66700"/>
          </a:solidFill>
          <a:ln w="12700">
            <a:solidFill>
              <a:srgbClr val="D667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828800" y="4453128"/>
            <a:ext cx="109728" cy="109728"/>
          </a:xfrm>
          <a:prstGeom prst="ellipse">
            <a:avLst/>
          </a:prstGeom>
          <a:solidFill>
            <a:srgbClr val="D66700"/>
          </a:solidFill>
          <a:ln w="12700">
            <a:solidFill>
              <a:srgbClr val="D667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93392" y="4370832"/>
            <a:ext cx="109728" cy="109728"/>
          </a:xfrm>
          <a:prstGeom prst="ellipse">
            <a:avLst/>
          </a:prstGeom>
          <a:solidFill>
            <a:srgbClr val="D66700"/>
          </a:solidFill>
          <a:ln w="12700">
            <a:solidFill>
              <a:srgbClr val="D667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157984" y="4453128"/>
            <a:ext cx="109728" cy="109728"/>
          </a:xfrm>
          <a:prstGeom prst="ellipse">
            <a:avLst/>
          </a:prstGeom>
          <a:solidFill>
            <a:srgbClr val="D66700"/>
          </a:solidFill>
          <a:ln w="12700">
            <a:solidFill>
              <a:srgbClr val="D667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19856" y="3785616"/>
            <a:ext cx="109728" cy="109728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584448" y="3867912"/>
            <a:ext cx="109728" cy="109728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0" y="3785616"/>
            <a:ext cx="109728" cy="109728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913632" y="3867912"/>
            <a:ext cx="109728" cy="109728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078224" y="3785616"/>
            <a:ext cx="109728" cy="109728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19856" y="4087368"/>
            <a:ext cx="109728" cy="109728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584448" y="4005072"/>
            <a:ext cx="109728" cy="109728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749040" y="4087368"/>
            <a:ext cx="109728" cy="109728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913632" y="4005072"/>
            <a:ext cx="109728" cy="109728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078224" y="4087368"/>
            <a:ext cx="109728" cy="109728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522976" y="4334256"/>
            <a:ext cx="109728" cy="109728"/>
          </a:xfrm>
          <a:prstGeom prst="ellipse">
            <a:avLst/>
          </a:prstGeom>
          <a:solidFill>
            <a:srgbClr val="6B5BFF"/>
          </a:solidFill>
          <a:ln w="12700">
            <a:solidFill>
              <a:srgbClr val="6B5B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687568" y="4416552"/>
            <a:ext cx="109728" cy="109728"/>
          </a:xfrm>
          <a:prstGeom prst="ellipse">
            <a:avLst/>
          </a:prstGeom>
          <a:solidFill>
            <a:srgbClr val="6B5BFF"/>
          </a:solidFill>
          <a:ln w="12700">
            <a:solidFill>
              <a:srgbClr val="6B5B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852160" y="4334256"/>
            <a:ext cx="109728" cy="109728"/>
          </a:xfrm>
          <a:prstGeom prst="ellipse">
            <a:avLst/>
          </a:prstGeom>
          <a:solidFill>
            <a:srgbClr val="6B5BFF"/>
          </a:solidFill>
          <a:ln w="12700">
            <a:solidFill>
              <a:srgbClr val="6B5B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016752" y="4416552"/>
            <a:ext cx="109728" cy="109728"/>
          </a:xfrm>
          <a:prstGeom prst="ellipse">
            <a:avLst/>
          </a:prstGeom>
          <a:solidFill>
            <a:srgbClr val="6B5BFF"/>
          </a:solidFill>
          <a:ln w="12700">
            <a:solidFill>
              <a:srgbClr val="6B5B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181344" y="4334256"/>
            <a:ext cx="109728" cy="109728"/>
          </a:xfrm>
          <a:prstGeom prst="ellipse">
            <a:avLst/>
          </a:prstGeom>
          <a:solidFill>
            <a:srgbClr val="6B5BFF"/>
          </a:solidFill>
          <a:ln w="12700">
            <a:solidFill>
              <a:srgbClr val="6B5B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522976" y="4636008"/>
            <a:ext cx="109728" cy="109728"/>
          </a:xfrm>
          <a:prstGeom prst="ellipse">
            <a:avLst/>
          </a:prstGeom>
          <a:solidFill>
            <a:srgbClr val="6B5BFF"/>
          </a:solidFill>
          <a:ln w="12700">
            <a:solidFill>
              <a:srgbClr val="6B5B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87568" y="4553712"/>
            <a:ext cx="109728" cy="109728"/>
          </a:xfrm>
          <a:prstGeom prst="ellipse">
            <a:avLst/>
          </a:prstGeom>
          <a:solidFill>
            <a:srgbClr val="6B5BFF"/>
          </a:solidFill>
          <a:ln w="12700">
            <a:solidFill>
              <a:srgbClr val="6B5B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852160" y="4636008"/>
            <a:ext cx="109728" cy="109728"/>
          </a:xfrm>
          <a:prstGeom prst="ellipse">
            <a:avLst/>
          </a:prstGeom>
          <a:solidFill>
            <a:srgbClr val="6B5BFF"/>
          </a:solidFill>
          <a:ln w="12700">
            <a:solidFill>
              <a:srgbClr val="6B5B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16752" y="4553712"/>
            <a:ext cx="109728" cy="109728"/>
          </a:xfrm>
          <a:prstGeom prst="ellipse">
            <a:avLst/>
          </a:prstGeom>
          <a:solidFill>
            <a:srgbClr val="6B5BFF"/>
          </a:solidFill>
          <a:ln w="12700">
            <a:solidFill>
              <a:srgbClr val="6B5B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181344" y="4636008"/>
            <a:ext cx="109728" cy="109728"/>
          </a:xfrm>
          <a:prstGeom prst="ellipse">
            <a:avLst/>
          </a:prstGeom>
          <a:solidFill>
            <a:srgbClr val="6B5BFF"/>
          </a:solidFill>
          <a:ln w="12700">
            <a:solidFill>
              <a:srgbClr val="6B5B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949440" y="388620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02A"/>
                </a:solidFill>
              </a:rPr>
              <a:t>Examples: clustering, dimensionality reduction, anomaly detection.</a:t>
            </a:r>
            <a:endParaRPr lang="en-US" sz="2000" dirty="0"/>
          </a:p>
        </p:txBody>
      </p:sp>
      <p:sp>
        <p:nvSpPr>
          <p:cNvPr id="42" name="Text 40"/>
          <p:cNvSpPr/>
          <p:nvPr/>
        </p:nvSpPr>
        <p:spPr>
          <a:xfrm>
            <a:off x="502920" y="6473952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DCS 404 · Data Science and Machine Learning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11475720" y="643737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667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Reinforcement learning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59536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788"/>
                </a:solidFill>
              </a:rPr>
              <a:t>The learner improves through trial, error, and reward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2926080" y="1920240"/>
            <a:ext cx="2743200" cy="0"/>
          </a:xfrm>
          <a:prstGeom prst="line">
            <a:avLst/>
          </a:prstGeom>
          <a:noFill/>
          <a:ln w="25400">
            <a:solidFill>
              <a:srgbClr val="D66700"/>
            </a:solidFill>
            <a:prstDash val="solid"/>
            <a:headEnd type="none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5943600" y="3886200"/>
            <a:ext cx="-2743200" cy="0"/>
          </a:xfrm>
          <a:prstGeom prst="line">
            <a:avLst/>
          </a:prstGeom>
          <a:noFill/>
          <a:ln w="25400">
            <a:solidFill>
              <a:srgbClr val="D66700"/>
            </a:solidFill>
            <a:prstDash val="solid"/>
            <a:headEnd type="none"/>
            <a:tailEnd type="triangle"/>
          </a:ln>
        </p:spPr>
      </p:sp>
      <p:sp>
        <p:nvSpPr>
          <p:cNvPr id="6" name="Text 4"/>
          <p:cNvSpPr/>
          <p:nvPr/>
        </p:nvSpPr>
        <p:spPr>
          <a:xfrm>
            <a:off x="914400" y="1417320"/>
            <a:ext cx="2011680" cy="1097280"/>
          </a:xfrm>
          <a:prstGeom prst="rect">
            <a:avLst/>
          </a:prstGeom>
          <a:solidFill>
            <a:srgbClr val="FFF3E8"/>
          </a:solidFill>
          <a:ln w="12700">
            <a:solidFill>
              <a:srgbClr val="E3EAF1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D66700"/>
                </a:solidFill>
              </a:rPr>
              <a:t>Agent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D66700"/>
                </a:solidFill>
              </a:rPr>
              <a:t>chooses actions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897880" y="1417320"/>
            <a:ext cx="2194560" cy="1097280"/>
          </a:xfrm>
          <a:prstGeom prst="rect">
            <a:avLst/>
          </a:prstGeom>
          <a:solidFill>
            <a:srgbClr val="EFF6FF"/>
          </a:solidFill>
          <a:ln w="12700">
            <a:solidFill>
              <a:srgbClr val="E3EAF1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3750"/>
                </a:solidFill>
              </a:rPr>
              <a:t>Environment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F3750"/>
                </a:solidFill>
              </a:rPr>
              <a:t>responds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2926080" y="3429000"/>
            <a:ext cx="29260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AF1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202A"/>
                </a:solidFill>
              </a:rPr>
              <a:t>Reward + new state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6202A"/>
                </a:solidFill>
              </a:rPr>
              <a:t>feedback loop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188720" y="5074920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6202A"/>
                </a:solidFill>
              </a:rPr>
              <a:t>Goal: learn a policy that maximizes total reward over time.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502920" y="6473952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DCS 404 · Data Science and Machine Learning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1475720" y="643737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667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Finer distinctions worth knowing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59536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788"/>
                </a:solidFill>
              </a:rPr>
              <a:t>These labels help you reason about how models behave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822960" y="1508760"/>
            <a:ext cx="3063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AF1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16202A"/>
                </a:solidFill>
              </a:rPr>
              <a:t>Model-based</a:t>
            </a:r>
            <a:endParaRPr lang="en-US" sz="1420" dirty="0"/>
          </a:p>
          <a:p>
            <a:pPr algn="l" indent="0" marL="0">
              <a:buNone/>
            </a:pPr>
            <a:r>
              <a:rPr lang="en-US" sz="1420" b="1" dirty="0">
                <a:solidFill>
                  <a:srgbClr val="16202A"/>
                </a:solidFill>
              </a:rPr>
              <a:t>learns an explicit general rule</a:t>
            </a:r>
            <a:endParaRPr lang="en-US" sz="1420" dirty="0"/>
          </a:p>
        </p:txBody>
      </p:sp>
      <p:sp>
        <p:nvSpPr>
          <p:cNvPr id="5" name="Text 3"/>
          <p:cNvSpPr/>
          <p:nvPr/>
        </p:nvSpPr>
        <p:spPr>
          <a:xfrm>
            <a:off x="4572000" y="1508760"/>
            <a:ext cx="3063240" cy="960120"/>
          </a:xfrm>
          <a:prstGeom prst="rect">
            <a:avLst/>
          </a:prstGeom>
          <a:solidFill>
            <a:srgbClr val="F7FAFD"/>
          </a:solidFill>
          <a:ln w="12700">
            <a:solidFill>
              <a:srgbClr val="E3EAF1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16202A"/>
                </a:solidFill>
              </a:rPr>
              <a:t>Instance-based</a:t>
            </a:r>
            <a:endParaRPr lang="en-US" sz="1420" dirty="0"/>
          </a:p>
          <a:p>
            <a:pPr algn="l" indent="0" marL="0">
              <a:buNone/>
            </a:pPr>
            <a:r>
              <a:rPr lang="en-US" sz="1420" b="1" dirty="0">
                <a:solidFill>
                  <a:srgbClr val="16202A"/>
                </a:solidFill>
              </a:rPr>
              <a:t>stores examples and compares new cases</a:t>
            </a:r>
            <a:endParaRPr lang="en-US" sz="1420" dirty="0"/>
          </a:p>
        </p:txBody>
      </p:sp>
      <p:sp>
        <p:nvSpPr>
          <p:cNvPr id="6" name="Text 4"/>
          <p:cNvSpPr/>
          <p:nvPr/>
        </p:nvSpPr>
        <p:spPr>
          <a:xfrm>
            <a:off x="8321040" y="1508760"/>
            <a:ext cx="3063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AF1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16202A"/>
                </a:solidFill>
              </a:rPr>
              <a:t>Parametric</a:t>
            </a:r>
            <a:endParaRPr lang="en-US" sz="1420" dirty="0"/>
          </a:p>
          <a:p>
            <a:pPr algn="l" indent="0" marL="0">
              <a:buNone/>
            </a:pPr>
            <a:r>
              <a:rPr lang="en-US" sz="1420" b="1" dirty="0">
                <a:solidFill>
                  <a:srgbClr val="16202A"/>
                </a:solidFill>
              </a:rPr>
              <a:t>fixed-size parameter set</a:t>
            </a:r>
            <a:endParaRPr lang="en-US" sz="1420" dirty="0"/>
          </a:p>
        </p:txBody>
      </p:sp>
      <p:sp>
        <p:nvSpPr>
          <p:cNvPr id="7" name="Text 5"/>
          <p:cNvSpPr/>
          <p:nvPr/>
        </p:nvSpPr>
        <p:spPr>
          <a:xfrm>
            <a:off x="822960" y="2926080"/>
            <a:ext cx="3063240" cy="960120"/>
          </a:xfrm>
          <a:prstGeom prst="rect">
            <a:avLst/>
          </a:prstGeom>
          <a:solidFill>
            <a:srgbClr val="F7FAFD"/>
          </a:solidFill>
          <a:ln w="12700">
            <a:solidFill>
              <a:srgbClr val="E3EAF1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16202A"/>
                </a:solidFill>
              </a:rPr>
              <a:t>Non-parametric</a:t>
            </a:r>
            <a:endParaRPr lang="en-US" sz="1420" dirty="0"/>
          </a:p>
          <a:p>
            <a:pPr algn="l" indent="0" marL="0">
              <a:buNone/>
            </a:pPr>
            <a:r>
              <a:rPr lang="en-US" sz="1420" b="1" dirty="0">
                <a:solidFill>
                  <a:srgbClr val="16202A"/>
                </a:solidFill>
              </a:rPr>
              <a:t>complexity can grow with data</a:t>
            </a:r>
            <a:endParaRPr lang="en-US" sz="1420" dirty="0"/>
          </a:p>
        </p:txBody>
      </p:sp>
      <p:sp>
        <p:nvSpPr>
          <p:cNvPr id="8" name="Text 6"/>
          <p:cNvSpPr/>
          <p:nvPr/>
        </p:nvSpPr>
        <p:spPr>
          <a:xfrm>
            <a:off x="4572000" y="2926080"/>
            <a:ext cx="3063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AF1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16202A"/>
                </a:solidFill>
              </a:rPr>
              <a:t>Probabilistic</a:t>
            </a:r>
            <a:endParaRPr lang="en-US" sz="1420" dirty="0"/>
          </a:p>
          <a:p>
            <a:pPr algn="l" indent="0" marL="0">
              <a:buNone/>
            </a:pPr>
            <a:r>
              <a:rPr lang="en-US" sz="1420" b="1" dirty="0">
                <a:solidFill>
                  <a:srgbClr val="16202A"/>
                </a:solidFill>
              </a:rPr>
              <a:t>returns uncertainty / probabilities</a:t>
            </a:r>
            <a:endParaRPr lang="en-US" sz="1420" dirty="0"/>
          </a:p>
        </p:txBody>
      </p:sp>
      <p:sp>
        <p:nvSpPr>
          <p:cNvPr id="9" name="Text 7"/>
          <p:cNvSpPr/>
          <p:nvPr/>
        </p:nvSpPr>
        <p:spPr>
          <a:xfrm>
            <a:off x="8321040" y="2926080"/>
            <a:ext cx="3063240" cy="960120"/>
          </a:xfrm>
          <a:prstGeom prst="rect">
            <a:avLst/>
          </a:prstGeom>
          <a:solidFill>
            <a:srgbClr val="F7FAFD"/>
          </a:solidFill>
          <a:ln w="12700">
            <a:solidFill>
              <a:srgbClr val="E3EAF1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16202A"/>
                </a:solidFill>
              </a:rPr>
              <a:t>Non-probabilistic</a:t>
            </a:r>
            <a:endParaRPr lang="en-US" sz="1420" dirty="0"/>
          </a:p>
          <a:p>
            <a:pPr algn="l" indent="0" marL="0">
              <a:buNone/>
            </a:pPr>
            <a:r>
              <a:rPr lang="en-US" sz="1420" b="1" dirty="0">
                <a:solidFill>
                  <a:srgbClr val="16202A"/>
                </a:solidFill>
              </a:rPr>
              <a:t>returns direct decisions or scores</a:t>
            </a:r>
            <a:endParaRPr lang="en-US" sz="1420" dirty="0"/>
          </a:p>
        </p:txBody>
      </p:sp>
      <p:sp>
        <p:nvSpPr>
          <p:cNvPr id="10" name="Text 8"/>
          <p:cNvSpPr/>
          <p:nvPr/>
        </p:nvSpPr>
        <p:spPr>
          <a:xfrm>
            <a:off x="2011680" y="5166360"/>
            <a:ext cx="8046720" cy="301752"/>
          </a:xfrm>
          <a:prstGeom prst="rect">
            <a:avLst/>
          </a:prstGeom>
          <a:solidFill>
            <a:srgbClr val="EFF6FF"/>
          </a:solidFill>
          <a:ln>
            <a:solidFill>
              <a:srgbClr val="EFF6FF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750"/>
                </a:solidFill>
              </a:rPr>
              <a:t>No label is “best” — each changes speed, flexibility, interpretability, and risk.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02920" y="6473952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DCS 404 · Data Science and Machine Learning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1475720" y="643737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667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ML can and can’t do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59536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788"/>
                </a:solidFill>
              </a:rPr>
              <a:t>Useful when rules are hard to write, risky when data is poor or goals are unclear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1051560" y="1417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CB342"/>
                </a:solidFill>
              </a:rPr>
              <a:t>Good fit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51560" y="1892808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66700"/>
                </a:solidFill>
              </a:rPr>
              <a:t>•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307592" y="187452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6202A"/>
                </a:solidFill>
              </a:rPr>
              <a:t>Patterns exist in data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51560" y="2368296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66700"/>
                </a:solidFill>
              </a:rPr>
              <a:t>•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07592" y="235000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6202A"/>
                </a:solidFill>
              </a:rPr>
              <a:t>Rules are too complex to write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51560" y="2843784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66700"/>
                </a:solidFill>
              </a:rPr>
              <a:t>•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07592" y="2825496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6202A"/>
                </a:solidFill>
              </a:rPr>
              <a:t>Predictions improve with more examples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51560" y="3319272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66700"/>
                </a:solidFill>
              </a:rPr>
              <a:t>•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307592" y="3300984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6202A"/>
                </a:solidFill>
              </a:rPr>
              <a:t>Errors can be measured and tolerated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0800" y="1417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66700"/>
                </a:solidFill>
              </a:rPr>
              <a:t>Poor fit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400800" y="1892808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66700"/>
                </a:solidFill>
              </a:rPr>
              <a:t>•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656832" y="187452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6202A"/>
                </a:solidFill>
              </a:rPr>
              <a:t>No useful data exists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00800" y="2368296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66700"/>
                </a:solidFill>
              </a:rPr>
              <a:t>•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656832" y="235000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6202A"/>
                </a:solidFill>
              </a:rPr>
              <a:t>Wrong or biased examples dominate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00800" y="2843784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66700"/>
                </a:solidFill>
              </a:rPr>
              <a:t>•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656832" y="2825496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6202A"/>
                </a:solidFill>
              </a:rPr>
              <a:t>Need deterministic guarantees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00800" y="3319272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66700"/>
                </a:solidFill>
              </a:rPr>
              <a:t>•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656832" y="3300984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6202A"/>
                </a:solidFill>
              </a:rPr>
              <a:t>Problem can be solved with simple rules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02920" y="6473952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DCS 404 · Data Science and Machine Learning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1475720" y="643737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667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Your turn: classify the learning problem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59536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788"/>
                </a:solidFill>
              </a:rPr>
              <a:t>For each case, identify the type of ML and the likely data needed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822960" y="1600200"/>
            <a:ext cx="4754880" cy="960120"/>
          </a:xfrm>
          <a:prstGeom prst="rect">
            <a:avLst/>
          </a:prstGeom>
          <a:solidFill>
            <a:srgbClr val="FFF8F2"/>
          </a:solidFill>
          <a:ln w="12700">
            <a:solidFill>
              <a:srgbClr val="E3EAF1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6202A"/>
                </a:solidFill>
              </a:rPr>
              <a:t>Predict house price</a:t>
            </a:r>
            <a:endParaRPr lang="en-US" sz="1550" dirty="0"/>
          </a:p>
          <a:p>
            <a:pPr algn="l" indent="0" marL="0">
              <a:buNone/>
            </a:pPr>
            <a:r>
              <a:rPr lang="en-US" sz="1550" b="1" dirty="0">
                <a:solidFill>
                  <a:srgbClr val="16202A"/>
                </a:solidFill>
              </a:rPr>
              <a:t>Answer: Supervised · Regression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6309360" y="1600200"/>
            <a:ext cx="4754880" cy="960120"/>
          </a:xfrm>
          <a:prstGeom prst="rect">
            <a:avLst/>
          </a:prstGeom>
          <a:solidFill>
            <a:srgbClr val="F7FAFD"/>
          </a:solidFill>
          <a:ln w="12700">
            <a:solidFill>
              <a:srgbClr val="E3EAF1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6202A"/>
                </a:solidFill>
              </a:rPr>
              <a:t>Group customers by behavior</a:t>
            </a:r>
            <a:endParaRPr lang="en-US" sz="1550" dirty="0"/>
          </a:p>
          <a:p>
            <a:pPr algn="l" indent="0" marL="0">
              <a:buNone/>
            </a:pPr>
            <a:r>
              <a:rPr lang="en-US" sz="1550" b="1" dirty="0">
                <a:solidFill>
                  <a:srgbClr val="16202A"/>
                </a:solidFill>
              </a:rPr>
              <a:t>Answer: Unsupervised · Clustering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822960" y="3017520"/>
            <a:ext cx="4754880" cy="960120"/>
          </a:xfrm>
          <a:prstGeom prst="rect">
            <a:avLst/>
          </a:prstGeom>
          <a:solidFill>
            <a:srgbClr val="FFF8F2"/>
          </a:solidFill>
          <a:ln w="12700">
            <a:solidFill>
              <a:srgbClr val="E3EAF1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6202A"/>
                </a:solidFill>
              </a:rPr>
              <a:t>Teach game character to win</a:t>
            </a:r>
            <a:endParaRPr lang="en-US" sz="1550" dirty="0"/>
          </a:p>
          <a:p>
            <a:pPr algn="l" indent="0" marL="0">
              <a:buNone/>
            </a:pPr>
            <a:r>
              <a:rPr lang="en-US" sz="1550" b="1" dirty="0">
                <a:solidFill>
                  <a:srgbClr val="16202A"/>
                </a:solidFill>
              </a:rPr>
              <a:t>Answer: Reinforcement learning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6309360" y="3017520"/>
            <a:ext cx="4754880" cy="960120"/>
          </a:xfrm>
          <a:prstGeom prst="rect">
            <a:avLst/>
          </a:prstGeom>
          <a:solidFill>
            <a:srgbClr val="F7FAFD"/>
          </a:solidFill>
          <a:ln w="12700">
            <a:solidFill>
              <a:srgbClr val="E3EAF1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6202A"/>
                </a:solidFill>
              </a:rPr>
              <a:t>Detect spam emails</a:t>
            </a:r>
            <a:endParaRPr lang="en-US" sz="1550" dirty="0"/>
          </a:p>
          <a:p>
            <a:pPr algn="l" indent="0" marL="0">
              <a:buNone/>
            </a:pPr>
            <a:r>
              <a:rPr lang="en-US" sz="1550" b="1" dirty="0">
                <a:solidFill>
                  <a:srgbClr val="16202A"/>
                </a:solidFill>
              </a:rPr>
              <a:t>Answer: Supervised · Classification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828800" y="51206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202A"/>
                </a:solidFill>
              </a:rPr>
              <a:t>Prompt students to justify the answer — not just name the category.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02920" y="6473952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DCS 404 · Data Science and Machine Learning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11475720" y="643737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667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32B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21792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</a:rPr>
              <a:t>If you remember nothing else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960120" y="1508760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50" dirty="0">
                <a:solidFill>
                  <a:srgbClr val="FFFFFF"/>
                </a:solidFill>
              </a:rPr>
              <a:t>1. AI is the broad goal; ML is one data-driven path to it; DL is a powerful subset of ML.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960120" y="2221992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50" dirty="0">
                <a:solidFill>
                  <a:srgbClr val="FFFFFF"/>
                </a:solidFill>
              </a:rPr>
              <a:t>2. Machine learning reverses the programming pipeline: data + answers → learned rules.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960120" y="2935224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50" dirty="0">
                <a:solidFill>
                  <a:srgbClr val="FFFFFF"/>
                </a:solidFill>
              </a:rPr>
              <a:t>3. Every ML system has data, model, learning, and application.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960120" y="3648456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50" dirty="0">
                <a:solidFill>
                  <a:srgbClr val="FFFFFF"/>
                </a:solidFill>
              </a:rPr>
              <a:t>4. The type of learning depends on the feedback: labels, structure, or rewards.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960120" y="4361688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50" dirty="0">
                <a:solidFill>
                  <a:srgbClr val="FFFFFF"/>
                </a:solidFill>
              </a:rPr>
              <a:t>5. Models learn from experience — so bad experience creates bad models.</a:t>
            </a:r>
            <a:endParaRPr lang="en-US" sz="1850" dirty="0"/>
          </a:p>
        </p:txBody>
      </p:sp>
      <p:sp>
        <p:nvSpPr>
          <p:cNvPr id="8" name="Shape 6"/>
          <p:cNvSpPr/>
          <p:nvPr/>
        </p:nvSpPr>
        <p:spPr>
          <a:xfrm>
            <a:off x="960120" y="5577840"/>
            <a:ext cx="9601200" cy="0"/>
          </a:xfrm>
          <a:prstGeom prst="line">
            <a:avLst/>
          </a:prstGeom>
          <a:noFill/>
          <a:ln w="25400">
            <a:solidFill>
              <a:srgbClr val="D667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5788152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7D5E1"/>
                </a:solidFill>
              </a:rPr>
              <a:t>Next: data preparation, features, and building the first real model.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475720" y="643737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66700"/>
                </a:solidFill>
              </a:rPr>
              <a:t>18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DCS 404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Machine Learning</dc:title>
  <dc:subject>Introduction to Machine Learning</dc:subject>
  <dc:creator>OpenAI</dc:creator>
  <cp:lastModifiedBy>OpenAI</cp:lastModifiedBy>
  <cp:revision>1</cp:revision>
  <dcterms:created xsi:type="dcterms:W3CDTF">2026-07-02T13:48:24Z</dcterms:created>
  <dcterms:modified xsi:type="dcterms:W3CDTF">2026-07-02T13:48:24Z</dcterms:modified>
</cp:coreProperties>
</file>